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f56a532c84413c" /><Relationship Type="http://schemas.openxmlformats.org/officeDocument/2006/relationships/extended-properties" Target="/docProps/app.xml" Id="R3c0be05d38384747" /><Relationship Type="http://schemas.openxmlformats.org/officeDocument/2006/relationships/officeDocument" Target="/ppt/presentation.xml" Id="Rfa07851ac30d44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c4a32d76814604"/>
  </p:sldMasterIdLst>
  <p:notesMasterIdLst>
    <p:notesMasterId xmlns:r="http://schemas.openxmlformats.org/officeDocument/2006/relationships" r:id="R4c289564c65e463e"/>
  </p:notesMasterIdLst>
  <p:sldIdLst>
    <p:sldId xmlns:r="http://schemas.openxmlformats.org/officeDocument/2006/relationships" id="256" r:id="R5df1006d09054d6a"/>
    <p:sldId xmlns:r="http://schemas.openxmlformats.org/officeDocument/2006/relationships" id="257" r:id="R88073f0a53514b94"/>
    <p:sldId xmlns:r="http://schemas.openxmlformats.org/officeDocument/2006/relationships" id="258" r:id="R8d3e74b0466a44f8"/>
    <p:sldId xmlns:r="http://schemas.openxmlformats.org/officeDocument/2006/relationships" id="259" r:id="R34a912b625a24695"/>
    <p:sldId xmlns:r="http://schemas.openxmlformats.org/officeDocument/2006/relationships" id="260" r:id="R1dd0281d9c4f4abb"/>
    <p:sldId xmlns:r="http://schemas.openxmlformats.org/officeDocument/2006/relationships" id="261" r:id="R0aedc202959a48a6"/>
    <p:sldId xmlns:r="http://schemas.openxmlformats.org/officeDocument/2006/relationships" id="262" r:id="R0275517b3ccc4e0b"/>
    <p:sldId xmlns:r="http://schemas.openxmlformats.org/officeDocument/2006/relationships" id="263" r:id="R1551ee38a3934551"/>
    <p:sldId xmlns:r="http://schemas.openxmlformats.org/officeDocument/2006/relationships" id="264" r:id="R34580273b28449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c882e593c4fb1" /><Relationship Type="http://schemas.openxmlformats.org/officeDocument/2006/relationships/slideMaster" Target="/ppt/slideMasters/slideMaster1.xml" Id="R54c4a32d76814604" /><Relationship Type="http://schemas.openxmlformats.org/officeDocument/2006/relationships/notesMaster" Target="/ppt/notesMasters/notesMaster1.xml" Id="R4c289564c65e463e" /><Relationship Type="http://schemas.openxmlformats.org/officeDocument/2006/relationships/presProps" Target="/ppt/presProps.xml" Id="R271d19962a0e42b5" /><Relationship Type="http://schemas.openxmlformats.org/officeDocument/2006/relationships/tableStyles" Target="/ppt/tableStyles.xml" Id="Rf9d055e6054d419a" /><Relationship Type="http://schemas.openxmlformats.org/officeDocument/2006/relationships/slide" Target="/ppt/slides/slide1.xml" Id="R5df1006d09054d6a" /><Relationship Type="http://schemas.openxmlformats.org/officeDocument/2006/relationships/slide" Target="/ppt/slides/slide2.xml" Id="R88073f0a53514b94" /><Relationship Type="http://schemas.openxmlformats.org/officeDocument/2006/relationships/slide" Target="/ppt/slides/slide3.xml" Id="R8d3e74b0466a44f8" /><Relationship Type="http://schemas.openxmlformats.org/officeDocument/2006/relationships/slide" Target="/ppt/slides/slide4.xml" Id="R34a912b625a24695" /><Relationship Type="http://schemas.openxmlformats.org/officeDocument/2006/relationships/slide" Target="/ppt/slides/slide5.xml" Id="R1dd0281d9c4f4abb" /><Relationship Type="http://schemas.openxmlformats.org/officeDocument/2006/relationships/slide" Target="/ppt/slides/slide6.xml" Id="R0aedc202959a48a6" /><Relationship Type="http://schemas.openxmlformats.org/officeDocument/2006/relationships/slide" Target="/ppt/slides/slide7.xml" Id="R0275517b3ccc4e0b" /><Relationship Type="http://schemas.openxmlformats.org/officeDocument/2006/relationships/slide" Target="/ppt/slides/slide8.xml" Id="R1551ee38a3934551" /><Relationship Type="http://schemas.openxmlformats.org/officeDocument/2006/relationships/slide" Target="/ppt/slides/slide9.xml" Id="R34580273b28449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f055d10b5e42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b7b3d9abb44a4d" /><Relationship Type="http://schemas.openxmlformats.org/officeDocument/2006/relationships/notesMaster" Target="/ppt/notesMasters/notesMaster1.xml" Id="R971e39399c164d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95e2913df9451b" /><Relationship Type="http://schemas.openxmlformats.org/officeDocument/2006/relationships/notesMaster" Target="/ppt/notesMasters/notesMaster1.xml" Id="Rccf0223139a343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57f45c15d842f0" /><Relationship Type="http://schemas.openxmlformats.org/officeDocument/2006/relationships/notesMaster" Target="/ppt/notesMasters/notesMaster1.xml" Id="Ra66678b3443b43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f6e56143ef4027" /><Relationship Type="http://schemas.openxmlformats.org/officeDocument/2006/relationships/notesMaster" Target="/ppt/notesMasters/notesMaster1.xml" Id="R4472ce295bf948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cf7f20037c4237" /><Relationship Type="http://schemas.openxmlformats.org/officeDocument/2006/relationships/notesMaster" Target="/ppt/notesMasters/notesMaster1.xml" Id="Refa47a12a54f49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43eb5e3ce44435" /><Relationship Type="http://schemas.openxmlformats.org/officeDocument/2006/relationships/notesMaster" Target="/ppt/notesMasters/notesMaster1.xml" Id="Rb60bd695cb6541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77f2ca10a44517" /><Relationship Type="http://schemas.openxmlformats.org/officeDocument/2006/relationships/notesMaster" Target="/ppt/notesMasters/notesMaster1.xml" Id="Rbfbf6d52cabe48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e31376eefc46f7" /><Relationship Type="http://schemas.openxmlformats.org/officeDocument/2006/relationships/notesMaster" Target="/ppt/notesMasters/notesMaster1.xml" Id="R72ee4f3ba0a04a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d4bc224b0c4a6a" /><Relationship Type="http://schemas.openxmlformats.org/officeDocument/2006/relationships/notesMaster" Target="/ppt/notesMasters/notesMaster1.xml" Id="Rbe5e5cff7f5642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开场只讲一句：这是一个围绕同一推荐业务问题，从离线模型做到生产服务、再做到反馈决策的完整闭环。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D:\machine  learning\recsys-learning\README.md</a:t>
            </a:r>
          </a:p>
          <a:p xmlns:a="http://schemas.openxmlformats.org/drawingml/2006/main">
            <a:r>
              <a:t>- D:\machine  learning\recsys-learning\REPORT.md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按从左到右讲。强调每层都可独立验证：召回看 Recall，排序看 AUC，服务看吞吐/p99，决策看支持度与不确定性。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D:\machine  learning\recsys-learning\src\serving.py</a:t>
            </a:r>
          </a:p>
          <a:p xmlns:a="http://schemas.openxmlformats.org/drawingml/2006/main">
            <a:r>
              <a:t>- D:\machine  learning\recsys-learning\src\feedback.py</a:t>
            </a:r>
          </a:p>
          <a:p xmlns:a="http://schemas.openxmlformats.org/drawingml/2006/main">
            <a:r>
              <a:t>- D:\machine  learning\recsys-learning\docs\FEEDBACK_LOOP.md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这是最值得深挖的失败故事。先说第一版 loss 降但 Recall 不升，再解释评估协议和负采样先验，最后落到 logit correction。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D:\machine  learning\recsys-learning\figures\08-双塔召回对比.png</a:t>
            </a:r>
          </a:p>
          <a:p xmlns:a="http://schemas.openxmlformats.org/drawingml/2006/main">
            <a:r>
              <a:t>- D:\machine  learning\recsys-learning\REPORT.md</a:t>
            </a:r>
          </a:p>
          <a:p xmlns:a="http://schemas.openxmlformats.org/drawingml/2006/main">
            <a:r>
              <a:t>- D:\machine  learning\recsys-learning\src\train_two_tower.py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讲清楚为什么不让 DeepFM 给全库打分：两阶段把全库检索成本和复杂交叉特征成本解耦。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D:\machine  learning\recsys-learning\src\serving.py</a:t>
            </a:r>
          </a:p>
          <a:p xmlns:a="http://schemas.openxmlformats.org/drawingml/2006/main">
            <a:r>
              <a:t>- D:\machine  learning\recsys-learning\experiments\deepfm_log.csv</a:t>
            </a:r>
          </a:p>
          <a:p xmlns:a="http://schemas.openxmlformats.org/drawingml/2006/main">
            <a:r>
              <a:t>- D:\machine  learning\recsys-learning\REPORT.md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强调数字是同一台 12 逻辑核 Windows 主机上的本地实测，不外推为云端 SLO。结论是用成本换吞吐和尾延迟。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D:\machine  learning\recsys-learning\experiments\serve_scaling_verified-20260726.json</a:t>
            </a:r>
          </a:p>
          <a:p xmlns:a="http://schemas.openxmlformats.org/drawingml/2006/main">
            <a:r>
              <a:t>- D:\machine  learning\recsys-learning\figures\serve_worker_scaling_verified-20260726.png</a:t>
            </a:r>
          </a:p>
          <a:p xmlns:a="http://schemas.openxmlformats.org/drawingml/2006/main">
            <a:r>
              <a:t>- D:\machine  learning\recsys-learning\docs\PRODUCTION_SERVING.md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不要说 CQL 无效。准确说法是：CQL 的保守假设与当前仿真器的数据覆盖和回报结构不匹配。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D:\machine  learning\recsys-learning\figures\14-CQL保守系数权衡.png</a:t>
            </a:r>
          </a:p>
          <a:p xmlns:a="http://schemas.openxmlformats.org/drawingml/2006/main">
            <a:r>
              <a:t>- D:\machine  learning\recsys-learning\notes\12-推荐系统后训练-离线RL与SFT.md</a:t>
            </a:r>
          </a:p>
          <a:p xmlns:a="http://schemas.openxmlformats.org/drawingml/2006/main">
            <a:r>
              <a:t>- D:\machine  learning\recsys-learning\research_v2\phase2_offline_rl\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propensity、支持度和 ESS 讲成决策安全机制，而不是统计名词清单。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D:\machine  learning\recsys-learning\src\feedback.py</a:t>
            </a:r>
          </a:p>
          <a:p xmlns:a="http://schemas.openxmlformats.org/drawingml/2006/main">
            <a:r>
              <a:t>- D:\machine  learning\recsys-learning\docs\FEEDBACK_LOOP.md</a:t>
            </a:r>
          </a:p>
          <a:p xmlns:a="http://schemas.openxmlformats.org/drawingml/2006/main">
            <a:r>
              <a:t>- D:\machine  learning\recsys-learning\feedback_app.py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明确两个处理并不相同：外部问卷是可迁移性检查，不是当前 weight=0.15 的直接 A/B。最重要的是上线决策。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https://grouplens.org/datasets/personality-2018/</a:t>
            </a:r>
          </a:p>
          <a:p xmlns:a="http://schemas.openxmlformats.org/drawingml/2006/main">
            <a:r>
              <a:t>- D:\machine  learning\recsys-learning\experiments\external_survey_personality-2018-diversity-v1-20260727.json</a:t>
            </a:r>
          </a:p>
          <a:p xmlns:a="http://schemas.openxmlformats.org/drawingml/2006/main">
            <a:r>
              <a:t>- D:\machine  learning\recsys-learning\runtime\feedback\events.sqlite3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收尾回到工程判断。邀请面试官选择一个方向深挖：召回纠偏、生产容量，或反馈 OPE。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D:\machine  learning\recsys-learning\docs\INTERVIEW_PLAYBOOK.md</a:t>
            </a:r>
          </a:p>
          <a:p xmlns:a="http://schemas.openxmlformats.org/drawingml/2006/main">
            <a:r>
              <a:t>- D:\machine  learning\recsys-learning\docs\PROJECT_EVIDENCE.md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a791cd6c64f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41106aeb014dd6" /><Relationship Type="http://schemas.openxmlformats.org/officeDocument/2006/relationships/slideLayout" Target="/ppt/slideLayouts/slideLayout1.xml" Id="Rdb2a0420842946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2a0420842946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87701f6504c68" /><Relationship Type="http://schemas.openxmlformats.org/officeDocument/2006/relationships/notesSlide" Target="/ppt/notesSlides/notesSlide1.xml" Id="R852d2524207e41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2d759edfd4067" /><Relationship Type="http://schemas.openxmlformats.org/officeDocument/2006/relationships/notesSlide" Target="/ppt/notesSlides/notesSlide2.xml" Id="R6790ed54446d40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cfd043894435f" /><Relationship Type="http://schemas.openxmlformats.org/officeDocument/2006/relationships/image" Target="/ppt/media/image.png" Id="R71ab14f9245f4829" /><Relationship Type="http://schemas.openxmlformats.org/officeDocument/2006/relationships/notesSlide" Target="/ppt/notesSlides/notesSlide3.xml" Id="R9df87adbf85742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479e3e9934bed" /><Relationship Type="http://schemas.openxmlformats.org/officeDocument/2006/relationships/notesSlide" Target="/ppt/notesSlides/notesSlide4.xml" Id="Rb8690c15295b43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bfc60866242f4" /><Relationship Type="http://schemas.openxmlformats.org/officeDocument/2006/relationships/image" Target="/ppt/media/image2.png" Id="R107ac7aea7524fdc" /><Relationship Type="http://schemas.openxmlformats.org/officeDocument/2006/relationships/notesSlide" Target="/ppt/notesSlides/notesSlide5.xml" Id="R3b1b891e822b49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27c60d5be42ed" /><Relationship Type="http://schemas.openxmlformats.org/officeDocument/2006/relationships/image" Target="/ppt/media/image3.png" Id="R52dd173893b5467b" /><Relationship Type="http://schemas.openxmlformats.org/officeDocument/2006/relationships/notesSlide" Target="/ppt/notesSlides/notesSlide6.xml" Id="R8554a7adf65943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454acd720487a" /><Relationship Type="http://schemas.openxmlformats.org/officeDocument/2006/relationships/notesSlide" Target="/ppt/notesSlides/notesSlide7.xml" Id="R247e3854fc0146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bced599cb4949" /><Relationship Type="http://schemas.openxmlformats.org/officeDocument/2006/relationships/chart" Target="/ppt/slides/charts/chart1.xml" Id="Ra97156fd59e148ef" /><Relationship Type="http://schemas.openxmlformats.org/officeDocument/2006/relationships/notesSlide" Target="/ppt/notesSlides/notesSlide8.xml" Id="Rf5946f6807174a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35e10e2fc4f90" /><Relationship Type="http://schemas.openxmlformats.org/officeDocument/2006/relationships/notesSlide" Target="/ppt/notesSlides/notesSlide9.xml" Id="Rfb1f2da466fa488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感到个性化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默认</c:v>
              </c:pt>
              <c:pt idx="1">
                <c:v>低</c:v>
              </c:pt>
              <c:pt idx="2">
                <c:v>中</c:v>
              </c:pt>
              <c:pt idx="3">
                <c:v>高</c:v>
              </c:pt>
            </c:strLit>
          </c:cat>
          <c:val>
            <c:numLit>
              <c:formatCode>General</c:formatCode>
              <c:ptCount val="4"/>
              <c:pt idx="0">
                <c:v>3.298</c:v>
              </c:pt>
              <c:pt idx="1">
                <c:v>3.094</c:v>
              </c:pt>
              <c:pt idx="2">
                <c:v>3.178</c:v>
              </c:pt>
              <c:pt idx="3">
                <c:v>2.966</c:v>
              </c:pt>
            </c:numLit>
          </c:val>
        </c:ser>
        <c:ser>
          <c:idx val="1"/>
          <c:order val="1"/>
          <c:tx>
            <c:v>愿意观看</c:v>
          </c:tx>
          <c:spPr>
            <a:solidFill xmlns:a="http://schemas.openxmlformats.org/drawingml/2006/main">
              <a:srgbClr val="0EA5E9"/>
            </a:solidFill>
          </c:spPr>
          <c:cat>
            <c:strLit>
              <c:ptCount val="4"/>
              <c:pt idx="0">
                <c:v>默认</c:v>
              </c:pt>
              <c:pt idx="1">
                <c:v>低</c:v>
              </c:pt>
              <c:pt idx="2">
                <c:v>中</c:v>
              </c:pt>
              <c:pt idx="3">
                <c:v>高</c:v>
              </c:pt>
            </c:strLit>
          </c:cat>
          <c:val>
            <c:numLit>
              <c:formatCode>General</c:formatCode>
              <c:ptCount val="4"/>
              <c:pt idx="0">
                <c:v>3.577</c:v>
              </c:pt>
              <c:pt idx="1">
                <c:v>3.541</c:v>
              </c:pt>
              <c:pt idx="2">
                <c:v>3.69</c:v>
              </c:pt>
              <c:pt idx="3">
                <c:v>3.443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827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"/>
          <c:min val="2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B64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36622EF-F7F3-43F1-9C3C-05EA6B16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FDFA650-8509-4F61-861B-4FE6F26A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PRODUCTION-ORIENTED ML SYSTEM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F8743867-5555-4326-8509-5BD2EC19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895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推荐系统：从召回排序</a:t>
            </a:r>
          </a:p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到真实反馈决策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95C736CA-013B-4AD2-9A22-8BAC3A02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双塔 + Faiss · DeepFM · SASRec / RL · 可观测服务 · OPE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D4DAA212-5195-4C8E-9EBD-E5545D32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Victorica123</a:t>
            </a:r>
          </a:p>
        </p:txBody>
      </p:sp>
      <p:sp>
        <p:nvSpPr>
          <p:cNvPr id="6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322127CD-1C1D-47F8-8568-01F1F264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293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面试项目答辩</a:t>
            </a:r>
          </a:p>
        </p:txBody>
      </p:sp>
    </p:spTree>
    <p:extLst>
      <p:ext uri="{BB962C8B-B14F-4D97-AF65-F5344CB8AC3E}">
        <p14:creationId xmlns:p14="http://schemas.microsoft.com/office/powerpoint/2010/main" val="255222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C6B8D5A-02DC-46C6-937B-880717BF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一个业务问题，拆成四个可验证闭环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CF06F5F8-BC1B-4100-AAF0-39C08FFE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slide-2-accent">
            <a:extLst xmlns:a="http://schemas.openxmlformats.org/drawingml/2006/main">
              <a:ext uri="{FF2B5EF4-FFF2-40B4-BE49-F238E27FC236}">
                <a16:creationId xmlns:a16="http://schemas.microsoft.com/office/drawing/2014/main" id="{58F84CF2-211E-4879-B2C1-9D8B3A25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72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F5CFE16-8199-4F56-BE61-BB72C399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95600"/>
            <a:ext cx="4381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32FE6C6-6BCA-4C80-BBA9-535CDBC0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95600"/>
            <a:ext cx="4381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1D4D47A0-AED4-4238-9311-C9967BF5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95600"/>
            <a:ext cx="4381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7" name="stage-1">
            <a:extLst xmlns:a="http://schemas.openxmlformats.org/drawingml/2006/main">
              <a:ext uri="{FF2B5EF4-FFF2-40B4-BE49-F238E27FC236}">
                <a16:creationId xmlns:a16="http://schemas.microsoft.com/office/drawing/2014/main" id="{F71CB020-5217-4ACB-9083-0B2D5023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266950" cy="26670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stage-index-1">
            <a:extLst xmlns:a="http://schemas.openxmlformats.org/drawingml/2006/main">
              <a:ext uri="{FF2B5EF4-FFF2-40B4-BE49-F238E27FC236}">
                <a16:creationId xmlns:a16="http://schemas.microsoft.com/office/drawing/2014/main" id="{7D4DD7DA-8F9F-4A2E-89DB-234CDAD1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2F02B252-690F-4CB7-8AD2-CE24E20C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召回</a:t>
            </a:r>
          </a:p>
        </p:txBody>
      </p:sp>
      <p:sp>
        <p:nvSpPr>
          <p:cNvPr id="10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69119AC0-D63D-4868-90A4-CF45D420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双塔 + Faiss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3,706 → 50</a:t>
            </a:r>
          </a:p>
        </p:txBody>
      </p:sp>
      <p:sp>
        <p:nvSpPr>
          <p:cNvPr id="11" name="stage-2">
            <a:extLst xmlns:a="http://schemas.openxmlformats.org/drawingml/2006/main">
              <a:ext uri="{FF2B5EF4-FFF2-40B4-BE49-F238E27FC236}">
                <a16:creationId xmlns:a16="http://schemas.microsoft.com/office/drawing/2014/main" id="{5430AAB5-7DF6-4E27-94C8-BF08547E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266950" cy="26670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stage-index-2">
            <a:extLst xmlns:a="http://schemas.openxmlformats.org/drawingml/2006/main">
              <a:ext uri="{FF2B5EF4-FFF2-40B4-BE49-F238E27FC236}">
                <a16:creationId xmlns:a16="http://schemas.microsoft.com/office/drawing/2014/main" id="{52BA6800-14E6-4B9F-8085-DB63B602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526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D063440D-7910-4DF9-8B0C-0FFA91E1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排序</a:t>
            </a:r>
          </a:p>
        </p:txBody>
      </p:sp>
      <p:sp>
        <p:nvSpPr>
          <p:cNvPr id="14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A60CD36F-8F20-469B-A341-5A311A3A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DeepFM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50 → Top-10</a:t>
            </a:r>
          </a:p>
        </p:txBody>
      </p:sp>
      <p:sp>
        <p:nvSpPr>
          <p:cNvPr id="15" name="stage-3">
            <a:extLst xmlns:a="http://schemas.openxmlformats.org/drawingml/2006/main">
              <a:ext uri="{FF2B5EF4-FFF2-40B4-BE49-F238E27FC236}">
                <a16:creationId xmlns:a16="http://schemas.microsoft.com/office/drawing/2014/main" id="{6C2F8109-3080-4817-A6EC-24F5CE08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266950" cy="26670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stage-index-3">
            <a:extLst xmlns:a="http://schemas.openxmlformats.org/drawingml/2006/main">
              <a:ext uri="{FF2B5EF4-FFF2-40B4-BE49-F238E27FC236}">
                <a16:creationId xmlns:a16="http://schemas.microsoft.com/office/drawing/2014/main" id="{D5A7B58F-45D5-4656-814C-FD4B7926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B07D40B2-42F1-490A-B354-C3F77F1A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8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A0BD4ED-BEB4-49DD-BFA7-EC2B4ADD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API / Demo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限流与观测</a:t>
            </a:r>
          </a:p>
        </p:txBody>
      </p:sp>
      <p:sp>
        <p:nvSpPr>
          <p:cNvPr id="19" name="stage-4">
            <a:extLst xmlns:a="http://schemas.openxmlformats.org/drawingml/2006/main">
              <a:ext uri="{FF2B5EF4-FFF2-40B4-BE49-F238E27FC236}">
                <a16:creationId xmlns:a16="http://schemas.microsoft.com/office/drawing/2014/main" id="{1EF2BFB1-AE26-4972-B6BD-5ECAF48A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266950" cy="26670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tage-index-4">
            <a:extLst xmlns:a="http://schemas.openxmlformats.org/drawingml/2006/main">
              <a:ext uri="{FF2B5EF4-FFF2-40B4-BE49-F238E27FC236}">
                <a16:creationId xmlns:a16="http://schemas.microsoft.com/office/drawing/2014/main" id="{DD59D1ED-8AF0-4E9C-9C78-0CD9F92F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6E17FA69-506C-4F0C-BA99-E24ED87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479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22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BBE35B2F-4426-4A1B-BFAE-009F4B7F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曝光 + 反馈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IPS / ESS</a:t>
            </a:r>
          </a:p>
        </p:txBody>
      </p:sp>
      <p:sp>
        <p:nvSpPr>
          <p:cNvPr id="23" name="architecture-takeaway">
            <a:extLst xmlns:a="http://schemas.openxmlformats.org/drawingml/2006/main">
              <a:ext uri="{FF2B5EF4-FFF2-40B4-BE49-F238E27FC236}">
                <a16:creationId xmlns:a16="http://schemas.microsoft.com/office/drawing/2014/main" id="{CE684585-A04F-4F21-B8B5-EF21E7A1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主线不是“模型清单”，而是每一层都有指标、故障诊断和决策边界。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F0D81697-F103-41CB-8CE1-8A8C6A7D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Victorica123 · Recommender System</a:t>
            </a:r>
          </a:p>
        </p:txBody>
      </p:sp>
    </p:spTree>
    <p:extLst>
      <p:ext uri="{BB962C8B-B14F-4D97-AF65-F5344CB8AC3E}">
        <p14:creationId xmlns:p14="http://schemas.microsoft.com/office/powerpoint/2010/main" val="1595686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E04E301-8968-4CB3-8C86-1748177E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真正的提升来自评估纠偏，不是盲目换模型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9EA1CEC4-0EF2-4EB7-B614-BE5E4C27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slide-3-accent">
            <a:extLst xmlns:a="http://schemas.openxmlformats.org/drawingml/2006/main">
              <a:ext uri="{FF2B5EF4-FFF2-40B4-BE49-F238E27FC236}">
                <a16:creationId xmlns:a16="http://schemas.microsoft.com/office/drawing/2014/main" id="{1249EC7B-2C86-4793-9F87-2E1BC38A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72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b14f9245f4829"/>
          <a:stretch xmlns:a="http://schemas.openxmlformats.org/drawingml/2006/main"/>
        </p:blipFill>
        <p:spPr>
          <a:xfrm xmlns:a="http://schemas.openxmlformats.org/drawingml/2006/main">
            <a:off x="438150" y="2133808"/>
            <a:ext cx="6572250" cy="2971385"/>
          </a:xfrm>
          <a:prstGeom xmlns:a="http://schemas.openxmlformats.org/drawingml/2006/main" prst="rect">
            <a:avLst/>
          </a:prstGeom>
        </p:spPr>
      </p:pic>
      <p:sp>
        <p:nvSpPr>
          <p:cNvPr id="5" name="recall-stat">
            <a:extLst xmlns:a="http://schemas.openxmlformats.org/drawingml/2006/main">
              <a:ext uri="{FF2B5EF4-FFF2-40B4-BE49-F238E27FC236}">
                <a16:creationId xmlns:a16="http://schemas.microsoft.com/office/drawing/2014/main" id="{354C6329-3423-49BB-9998-3858CD67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0.097</a:t>
            </a:r>
          </a:p>
        </p:txBody>
      </p:sp>
      <p:sp>
        <p:nvSpPr>
          <p:cNvPr id="6" name="recall-label">
            <a:extLst xmlns:a="http://schemas.openxmlformats.org/drawingml/2006/main">
              <a:ext uri="{FF2B5EF4-FFF2-40B4-BE49-F238E27FC236}">
                <a16:creationId xmlns:a16="http://schemas.microsoft.com/office/drawing/2014/main" id="{23E0424F-1DA2-49BE-B517-B7E4A491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384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Recall@10</a:t>
            </a:r>
          </a:p>
        </p:txBody>
      </p:sp>
      <p:sp>
        <p:nvSpPr>
          <p:cNvPr id="7" name="uplift-stat">
            <a:extLst xmlns:a="http://schemas.openxmlformats.org/drawingml/2006/main">
              <a:ext uri="{FF2B5EF4-FFF2-40B4-BE49-F238E27FC236}">
                <a16:creationId xmlns:a16="http://schemas.microsoft.com/office/drawing/2014/main" id="{E9205D15-EF67-4DB1-977F-CBA4E7A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956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+56%</a:t>
            </a:r>
          </a:p>
        </p:txBody>
      </p:sp>
      <p:sp>
        <p:nvSpPr>
          <p:cNvPr id="8" name="uplift-label">
            <a:extLst xmlns:a="http://schemas.openxmlformats.org/drawingml/2006/main">
              <a:ext uri="{FF2B5EF4-FFF2-40B4-BE49-F238E27FC236}">
                <a16:creationId xmlns:a16="http://schemas.microsoft.com/office/drawing/2014/main" id="{23C7EFC8-FE1B-4714-A09E-ADEB9CEA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9909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相对 MF 基线 0.062</a:t>
            </a:r>
          </a:p>
        </p:txBody>
      </p:sp>
      <p:sp>
        <p:nvSpPr>
          <p:cNvPr id="9" name="diagnosis">
            <a:extLst xmlns:a="http://schemas.openxmlformats.org/drawingml/2006/main">
              <a:ext uri="{FF2B5EF4-FFF2-40B4-BE49-F238E27FC236}">
                <a16:creationId xmlns:a16="http://schemas.microsoft.com/office/drawing/2014/main" id="{ED9825CD-A4B7-4834-BDB0-1F7803E5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7244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leave-one-out / 负采样口径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按采样先验做 logit correction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93F652C9-4AC9-42F8-8139-AA3AA898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Victorica123 · Recommender System</a:t>
            </a:r>
          </a:p>
        </p:txBody>
      </p:sp>
    </p:spTree>
    <p:extLst>
      <p:ext uri="{BB962C8B-B14F-4D97-AF65-F5344CB8AC3E}">
        <p14:creationId xmlns:p14="http://schemas.microsoft.com/office/powerpoint/2010/main" val="466173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E0A00D7-E9F0-45C5-B056-9781FED9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两阶段架构把“快”和“准”分开优化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C66464E4-B7D0-4679-824E-709BE44B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slide-4-accent">
            <a:extLst xmlns:a="http://schemas.openxmlformats.org/drawingml/2006/main">
              <a:ext uri="{FF2B5EF4-FFF2-40B4-BE49-F238E27FC236}">
                <a16:creationId xmlns:a16="http://schemas.microsoft.com/office/drawing/2014/main" id="{54202219-01D5-4B0E-B99F-4CE6CF15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72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two-stage-arrow">
            <a:extLst xmlns:a="http://schemas.openxmlformats.org/drawingml/2006/main">
              <a:ext uri="{FF2B5EF4-FFF2-40B4-BE49-F238E27FC236}">
                <a16:creationId xmlns:a16="http://schemas.microsoft.com/office/drawing/2014/main" id="{C328DBD1-D92E-4B87-A798-5A4F35BF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14625"/>
            <a:ext cx="1066800" cy="685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retrieval-block">
            <a:extLst xmlns:a="http://schemas.openxmlformats.org/drawingml/2006/main">
              <a:ext uri="{FF2B5EF4-FFF2-40B4-BE49-F238E27FC236}">
                <a16:creationId xmlns:a16="http://schemas.microsoft.com/office/drawing/2014/main" id="{9E1D44F6-6E7B-4E0F-8983-6226E193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095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ranking-block">
            <a:extLst xmlns:a="http://schemas.openxmlformats.org/drawingml/2006/main">
              <a:ext uri="{FF2B5EF4-FFF2-40B4-BE49-F238E27FC236}">
                <a16:creationId xmlns:a16="http://schemas.microsoft.com/office/drawing/2014/main" id="{389224ED-90B7-4BFD-8E0D-32F3B28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4095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retrieval-title">
            <a:extLst xmlns:a="http://schemas.openxmlformats.org/drawingml/2006/main">
              <a:ext uri="{FF2B5EF4-FFF2-40B4-BE49-F238E27FC236}">
                <a16:creationId xmlns:a16="http://schemas.microsoft.com/office/drawing/2014/main" id="{D3F7791D-0440-4AFE-B24D-415987C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526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双塔召回</a:t>
            </a:r>
          </a:p>
        </p:txBody>
      </p:sp>
      <p:sp>
        <p:nvSpPr>
          <p:cNvPr id="8" name="retrieval-body">
            <a:extLst xmlns:a="http://schemas.openxmlformats.org/drawingml/2006/main">
              <a:ext uri="{FF2B5EF4-FFF2-40B4-BE49-F238E27FC236}">
                <a16:creationId xmlns:a16="http://schemas.microsoft.com/office/drawing/2014/main" id="{38C68C87-6B4E-41F2-A16B-A0C1D33F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用户塔 / 物品塔</a:t>
            </a:r>
          </a:p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32 维向量</a:t>
            </a:r>
          </a:p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Faiss 内积检索</a:t>
            </a:r>
          </a:p>
        </p:txBody>
      </p:sp>
      <p:sp>
        <p:nvSpPr>
          <p:cNvPr id="9" name="ranking-title">
            <a:extLst xmlns:a="http://schemas.openxmlformats.org/drawingml/2006/main">
              <a:ext uri="{FF2B5EF4-FFF2-40B4-BE49-F238E27FC236}">
                <a16:creationId xmlns:a16="http://schemas.microsoft.com/office/drawing/2014/main" id="{6E3BDA8D-B877-4A1D-AE5C-10DB3C2D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526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DeepFM 精排</a:t>
            </a:r>
          </a:p>
        </p:txBody>
      </p:sp>
      <p:sp>
        <p:nvSpPr>
          <p:cNvPr id="10" name="ranking-body">
            <a:extLst xmlns:a="http://schemas.openxmlformats.org/drawingml/2006/main">
              <a:ext uri="{FF2B5EF4-FFF2-40B4-BE49-F238E27FC236}">
                <a16:creationId xmlns:a16="http://schemas.microsoft.com/office/drawing/2014/main" id="{04B53505-87FA-4114-85AA-E1BC5539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用户 + 物品 + 交叉特征</a:t>
            </a:r>
          </a:p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候选集逐项打分</a:t>
            </a:r>
          </a:p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测试 AUC 0.804</a:t>
            </a:r>
          </a:p>
        </p:txBody>
      </p:sp>
      <p:sp>
        <p:nvSpPr>
          <p:cNvPr id="11" name="all-items">
            <a:extLst xmlns:a="http://schemas.openxmlformats.org/drawingml/2006/main">
              <a:ext uri="{FF2B5EF4-FFF2-40B4-BE49-F238E27FC236}">
                <a16:creationId xmlns:a16="http://schemas.microsoft.com/office/drawing/2014/main" id="{91847ACB-8F6B-43A4-82E8-99A62660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81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全库 3,706</a:t>
            </a:r>
          </a:p>
        </p:txBody>
      </p:sp>
      <p:sp>
        <p:nvSpPr>
          <p:cNvPr id="12" name="candidates">
            <a:extLst xmlns:a="http://schemas.openxmlformats.org/drawingml/2006/main">
              <a:ext uri="{FF2B5EF4-FFF2-40B4-BE49-F238E27FC236}">
                <a16:creationId xmlns:a16="http://schemas.microsoft.com/office/drawing/2014/main" id="{26DF8649-34D4-4BE1-8FC9-BB87745D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181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50 候选</a:t>
            </a:r>
          </a:p>
        </p:txBody>
      </p:sp>
      <p:sp>
        <p:nvSpPr>
          <p:cNvPr id="13" name="topk">
            <a:extLst xmlns:a="http://schemas.openxmlformats.org/drawingml/2006/main">
              <a:ext uri="{FF2B5EF4-FFF2-40B4-BE49-F238E27FC236}">
                <a16:creationId xmlns:a16="http://schemas.microsoft.com/office/drawing/2014/main" id="{1EB9ED80-4051-4519-87FA-8058AE77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181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Top-10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3DC9296C-2F73-48D3-A5F2-0C0F4BD7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Victorica123 · Recommender System</a:t>
            </a:r>
          </a:p>
        </p:txBody>
      </p:sp>
    </p:spTree>
    <p:extLst>
      <p:ext uri="{BB962C8B-B14F-4D97-AF65-F5344CB8AC3E}">
        <p14:creationId xmlns:p14="http://schemas.microsoft.com/office/powerpoint/2010/main" val="1380407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3CB0887-62DA-452C-9CBE-EAFC3163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吞吐提升不是免费的：p99 与内存必须一起看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FF170034-33B4-4301-A883-45142946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slide-5-accent">
            <a:extLst xmlns:a="http://schemas.openxmlformats.org/drawingml/2006/main">
              <a:ext uri="{FF2B5EF4-FFF2-40B4-BE49-F238E27FC236}">
                <a16:creationId xmlns:a16="http://schemas.microsoft.com/office/drawing/2014/main" id="{77D400E3-ADE1-4949-B783-A517CA9B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72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ac7aea7524fdc"/>
          <a:stretch xmlns:a="http://schemas.openxmlformats.org/drawingml/2006/main"/>
        </p:blipFill>
        <p:spPr>
          <a:xfrm xmlns:a="http://schemas.openxmlformats.org/drawingml/2006/main">
            <a:off x="361950" y="2644140"/>
            <a:ext cx="7239000" cy="2026920"/>
          </a:xfrm>
          <a:prstGeom xmlns:a="http://schemas.openxmlformats.org/drawingml/2006/main" prst="rect">
            <a:avLst/>
          </a:prstGeom>
        </p:spPr>
      </p:pic>
      <p:sp>
        <p:nvSpPr>
          <p:cNvPr id="5" name="prod-config">
            <a:extLst xmlns:a="http://schemas.openxmlformats.org/drawingml/2006/main">
              <a:ext uri="{FF2B5EF4-FFF2-40B4-BE49-F238E27FC236}">
                <a16:creationId xmlns:a16="http://schemas.microsoft.com/office/drawing/2014/main" id="{E0787D7C-A951-47B6-82B0-A7E668A6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71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 workers</a:t>
            </a:r>
          </a:p>
        </p:txBody>
      </p:sp>
      <p:sp>
        <p:nvSpPr>
          <p:cNvPr id="6" name="rps-stat">
            <a:extLst xmlns:a="http://schemas.openxmlformats.org/drawingml/2006/main">
              <a:ext uri="{FF2B5EF4-FFF2-40B4-BE49-F238E27FC236}">
                <a16:creationId xmlns:a16="http://schemas.microsoft.com/office/drawing/2014/main" id="{995475B7-0B71-4B2D-B624-4A0C6231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336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270 RPS</a:t>
            </a:r>
          </a:p>
        </p:txBody>
      </p:sp>
      <p:sp>
        <p:nvSpPr>
          <p:cNvPr id="7" name="p99-stat">
            <a:extLst xmlns:a="http://schemas.openxmlformats.org/drawingml/2006/main">
              <a:ext uri="{FF2B5EF4-FFF2-40B4-BE49-F238E27FC236}">
                <a16:creationId xmlns:a16="http://schemas.microsoft.com/office/drawing/2014/main" id="{04BAFC12-E464-49EA-94C0-546C8DDB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HTTP 200 p99 约 72 ms</a:t>
            </a:r>
          </a:p>
        </p:txBody>
      </p:sp>
      <p:sp>
        <p:nvSpPr>
          <p:cNvPr id="8" name="rss-stat">
            <a:extLst xmlns:a="http://schemas.openxmlformats.org/drawingml/2006/main">
              <a:ext uri="{FF2B5EF4-FFF2-40B4-BE49-F238E27FC236}">
                <a16:creationId xmlns:a16="http://schemas.microsoft.com/office/drawing/2014/main" id="{88D85B59-5B78-4C67-A713-65D3A91B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528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≈ 1.78 GiB RSS</a:t>
            </a:r>
          </a:p>
        </p:txBody>
      </p:sp>
      <p:sp>
        <p:nvSpPr>
          <p:cNvPr id="9" name="prod-takeaway">
            <a:extLst xmlns:a="http://schemas.openxmlformats.org/drawingml/2006/main">
              <a:ext uri="{FF2B5EF4-FFF2-40B4-BE49-F238E27FC236}">
                <a16:creationId xmlns:a16="http://schemas.microsoft.com/office/drawing/2014/main" id="{5AF5CCF1-08FC-450B-A072-AC8D41AA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57700"/>
            <a:ext cx="335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2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准入控制让系统在饱和时返回 429，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保护已接收请求，而不是继续排队。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90170EB2-0345-46C1-B683-73737A36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Victorica123 · Recommender System</a:t>
            </a:r>
          </a:p>
        </p:txBody>
      </p:sp>
    </p:spTree>
    <p:extLst>
      <p:ext uri="{BB962C8B-B14F-4D97-AF65-F5344CB8AC3E}">
        <p14:creationId xmlns:p14="http://schemas.microsoft.com/office/powerpoint/2010/main" val="1032995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8CC38AA-D625-4C2D-AC8A-27CE962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SOTA 先验不匹配时，越“保守”反而越差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D123A74E-B3FB-40AC-B467-E21A0BF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slide-6-accent">
            <a:extLst xmlns:a="http://schemas.openxmlformats.org/drawingml/2006/main">
              <a:ext uri="{FF2B5EF4-FFF2-40B4-BE49-F238E27FC236}">
                <a16:creationId xmlns:a16="http://schemas.microsoft.com/office/drawing/2014/main" id="{C4355D08-E652-4290-A542-CA9CAB4C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72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d173893b5467b"/>
          <a:stretch xmlns:a="http://schemas.openxmlformats.org/drawingml/2006/main"/>
        </p:blipFill>
        <p:spPr>
          <a:xfrm xmlns:a="http://schemas.openxmlformats.org/drawingml/2006/main">
            <a:off x="419100" y="1821686"/>
            <a:ext cx="6572250" cy="3538477"/>
          </a:xfrm>
          <a:prstGeom xmlns:a="http://schemas.openxmlformats.org/drawingml/2006/main" prst="rect">
            <a:avLst/>
          </a:prstGeom>
        </p:spPr>
      </p:pic>
      <p:sp>
        <p:nvSpPr>
          <p:cNvPr id="5" name="cql-observation-label">
            <a:extLst xmlns:a="http://schemas.openxmlformats.org/drawingml/2006/main">
              <a:ext uri="{FF2B5EF4-FFF2-40B4-BE49-F238E27FC236}">
                <a16:creationId xmlns:a16="http://schemas.microsoft.com/office/drawing/2014/main" id="{C6EFADDD-DFCF-4858-8E61-5A812E43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002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6" name="cql-observation">
            <a:extLst xmlns:a="http://schemas.openxmlformats.org/drawingml/2006/main">
              <a:ext uri="{FF2B5EF4-FFF2-40B4-BE49-F238E27FC236}">
                <a16:creationId xmlns:a16="http://schemas.microsoft.com/office/drawing/2014/main" id="{2FD45F41-8A0E-404A-A317-0370A581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α 越大，回报单调下降</a:t>
            </a:r>
          </a:p>
        </p:txBody>
      </p:sp>
      <p:sp>
        <p:nvSpPr>
          <p:cNvPr id="7" name="cql-root-label">
            <a:extLst xmlns:a="http://schemas.openxmlformats.org/drawingml/2006/main">
              <a:ext uri="{FF2B5EF4-FFF2-40B4-BE49-F238E27FC236}">
                <a16:creationId xmlns:a16="http://schemas.microsoft.com/office/drawing/2014/main" id="{B900E9F7-0204-4A91-AFCD-2600DF08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根因</a:t>
            </a:r>
          </a:p>
        </p:txBody>
      </p:sp>
      <p:sp>
        <p:nvSpPr>
          <p:cNvPr id="8" name="cql-root">
            <a:extLst xmlns:a="http://schemas.openxmlformats.org/drawingml/2006/main">
              <a:ext uri="{FF2B5EF4-FFF2-40B4-BE49-F238E27FC236}">
                <a16:creationId xmlns:a16="http://schemas.microsoft.com/office/drawing/2014/main" id="{E5582EF4-DF4E-4217-9A6B-61507098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回报有界 + 动作全合法</a:t>
            </a:r>
          </a:p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日志覆盖较好</a:t>
            </a:r>
          </a:p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外推误差风险并不突出</a:t>
            </a:r>
          </a:p>
        </p:txBody>
      </p:sp>
      <p:sp>
        <p:nvSpPr>
          <p:cNvPr id="9" name="cql-decision">
            <a:extLst xmlns:a="http://schemas.openxmlformats.org/drawingml/2006/main">
              <a:ext uri="{FF2B5EF4-FFF2-40B4-BE49-F238E27FC236}">
                <a16:creationId xmlns:a16="http://schemas.microsoft.com/office/drawing/2014/main" id="{5B7DE317-83C6-48C1-9B26-06B6D0AD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911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先诊断数据，再选择保守性。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183561D3-0D30-496D-A5DE-6A33933B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Victorica123 · Recommender System</a:t>
            </a:r>
          </a:p>
        </p:txBody>
      </p:sp>
    </p:spTree>
    <p:extLst>
      <p:ext uri="{BB962C8B-B14F-4D97-AF65-F5344CB8AC3E}">
        <p14:creationId xmlns:p14="http://schemas.microsoft.com/office/powerpoint/2010/main" val="14226776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54BA1E49-DAE7-4251-B134-98FC4043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反馈闭环的价值，是让一个“好点子”可以被否决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38D16ECD-CCC5-496E-917C-78218A02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slide-7-accent">
            <a:extLst xmlns:a="http://schemas.openxmlformats.org/drawingml/2006/main">
              <a:ext uri="{FF2B5EF4-FFF2-40B4-BE49-F238E27FC236}">
                <a16:creationId xmlns:a16="http://schemas.microsoft.com/office/drawing/2014/main" id="{7F6DF156-7238-400C-8667-552F438F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72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feedback-arrow-1">
            <a:extLst xmlns:a="http://schemas.openxmlformats.org/drawingml/2006/main">
              <a:ext uri="{FF2B5EF4-FFF2-40B4-BE49-F238E27FC236}">
                <a16:creationId xmlns:a16="http://schemas.microsoft.com/office/drawing/2014/main" id="{1F3C449D-E787-4E15-9BE2-32662A17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5275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5" name="feedback-arrow-2">
            <a:extLst xmlns:a="http://schemas.openxmlformats.org/drawingml/2006/main">
              <a:ext uri="{FF2B5EF4-FFF2-40B4-BE49-F238E27FC236}">
                <a16:creationId xmlns:a16="http://schemas.microsoft.com/office/drawing/2014/main" id="{ACC533DD-0C50-4A90-985C-E178136F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5275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6" name="feedback-arrow-3">
            <a:extLst xmlns:a="http://schemas.openxmlformats.org/drawingml/2006/main">
              <a:ext uri="{FF2B5EF4-FFF2-40B4-BE49-F238E27FC236}">
                <a16:creationId xmlns:a16="http://schemas.microsoft.com/office/drawing/2014/main" id="{31922238-0888-40CB-8338-966D6B1D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7" name="feedback-stage-1">
            <a:extLst xmlns:a="http://schemas.openxmlformats.org/drawingml/2006/main">
              <a:ext uri="{FF2B5EF4-FFF2-40B4-BE49-F238E27FC236}">
                <a16:creationId xmlns:a16="http://schemas.microsoft.com/office/drawing/2014/main" id="{D9D77BB3-F863-4BDB-AA64-A6B7CE9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885950" cy="2266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eedback-title-1">
            <a:extLst xmlns:a="http://schemas.openxmlformats.org/drawingml/2006/main">
              <a:ext uri="{FF2B5EF4-FFF2-40B4-BE49-F238E27FC236}">
                <a16:creationId xmlns:a16="http://schemas.microsoft.com/office/drawing/2014/main" id="{A229C619-EC1E-4242-B36F-C860351F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候选池</a:t>
            </a:r>
          </a:p>
        </p:txBody>
      </p:sp>
      <p:sp>
        <p:nvSpPr>
          <p:cNvPr id="9" name="feedback-body-1">
            <a:extLst xmlns:a="http://schemas.openxmlformats.org/drawingml/2006/main">
              <a:ext uri="{FF2B5EF4-FFF2-40B4-BE49-F238E27FC236}">
                <a16:creationId xmlns:a16="http://schemas.microsoft.com/office/drawing/2014/main" id="{88337DE8-C4EA-4627-A1A1-0DCB9A45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记录完整候选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与 propensity</a:t>
            </a:r>
          </a:p>
        </p:txBody>
      </p:sp>
      <p:sp>
        <p:nvSpPr>
          <p:cNvPr id="10" name="feedback-stage-2">
            <a:extLst xmlns:a="http://schemas.openxmlformats.org/drawingml/2006/main">
              <a:ext uri="{FF2B5EF4-FFF2-40B4-BE49-F238E27FC236}">
                <a16:creationId xmlns:a16="http://schemas.microsoft.com/office/drawing/2014/main" id="{BEF9F22E-1CAD-489F-844E-4530F7BC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1885950" cy="2266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feedback-title-2">
            <a:extLst xmlns:a="http://schemas.openxmlformats.org/drawingml/2006/main">
              <a:ext uri="{FF2B5EF4-FFF2-40B4-BE49-F238E27FC236}">
                <a16:creationId xmlns:a16="http://schemas.microsoft.com/office/drawing/2014/main" id="{63EAC8BC-9B19-4C43-B3F2-B44F8620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曝光</a:t>
            </a:r>
          </a:p>
        </p:txBody>
      </p:sp>
      <p:sp>
        <p:nvSpPr>
          <p:cNvPr id="12" name="feedback-body-2">
            <a:extLst xmlns:a="http://schemas.openxmlformats.org/drawingml/2006/main">
              <a:ext uri="{FF2B5EF4-FFF2-40B4-BE49-F238E27FC236}">
                <a16:creationId xmlns:a16="http://schemas.microsoft.com/office/drawing/2014/main" id="{1B4F0294-C790-45B4-BB4A-93EA6627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5755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只把实际展示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计入观察</a:t>
            </a:r>
          </a:p>
        </p:txBody>
      </p:sp>
      <p:sp>
        <p:nvSpPr>
          <p:cNvPr id="13" name="feedback-stage-3">
            <a:extLst xmlns:a="http://schemas.openxmlformats.org/drawingml/2006/main">
              <a:ext uri="{FF2B5EF4-FFF2-40B4-BE49-F238E27FC236}">
                <a16:creationId xmlns:a16="http://schemas.microsoft.com/office/drawing/2014/main" id="{753F2176-74AB-4342-B7B7-2A494CA0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1885950" cy="2266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feedback-title-3">
            <a:extLst xmlns:a="http://schemas.openxmlformats.org/drawingml/2006/main">
              <a:ext uri="{FF2B5EF4-FFF2-40B4-BE49-F238E27FC236}">
                <a16:creationId xmlns:a16="http://schemas.microsoft.com/office/drawing/2014/main" id="{3C4477D7-DCFC-4753-A4C2-889CD7EF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15" name="feedback-body-3">
            <a:extLst xmlns:a="http://schemas.openxmlformats.org/drawingml/2006/main">
              <a:ext uri="{FF2B5EF4-FFF2-40B4-BE49-F238E27FC236}">
                <a16:creationId xmlns:a16="http://schemas.microsoft.com/office/drawing/2014/main" id="{3BBC497E-0587-402E-8888-F7426C2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5755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click / skip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幂等事件</a:t>
            </a:r>
          </a:p>
        </p:txBody>
      </p:sp>
      <p:sp>
        <p:nvSpPr>
          <p:cNvPr id="16" name="feedback-stage-4">
            <a:extLst xmlns:a="http://schemas.openxmlformats.org/drawingml/2006/main">
              <a:ext uri="{FF2B5EF4-FFF2-40B4-BE49-F238E27FC236}">
                <a16:creationId xmlns:a16="http://schemas.microsoft.com/office/drawing/2014/main" id="{8E0AC879-ACBD-456B-8639-ED1E75C1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1885950" cy="2266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feedback-title-4">
            <a:extLst xmlns:a="http://schemas.openxmlformats.org/drawingml/2006/main">
              <a:ext uri="{FF2B5EF4-FFF2-40B4-BE49-F238E27FC236}">
                <a16:creationId xmlns:a16="http://schemas.microsoft.com/office/drawing/2014/main" id="{B6CAC87F-13C1-4AB3-BB06-C4D4E5FE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765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18" name="feedback-body-4">
            <a:extLst xmlns:a="http://schemas.openxmlformats.org/drawingml/2006/main">
              <a:ext uri="{FF2B5EF4-FFF2-40B4-BE49-F238E27FC236}">
                <a16:creationId xmlns:a16="http://schemas.microsoft.com/office/drawing/2014/main" id="{96B1C40D-FA02-4264-9B95-2FB2ACE0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IPS / SNIPS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ESS + bootstrap</a:t>
            </a:r>
          </a:p>
        </p:txBody>
      </p:sp>
      <p:sp>
        <p:nvSpPr>
          <p:cNvPr id="19" name="feedback-decision">
            <a:extLst xmlns:a="http://schemas.openxmlformats.org/drawingml/2006/main">
              <a:ext uri="{FF2B5EF4-FFF2-40B4-BE49-F238E27FC236}">
                <a16:creationId xmlns:a16="http://schemas.microsoft.com/office/drawing/2014/main" id="{019FAA78-0E39-429F-9A1A-5ECFB0C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没有非零支持度，就不输出“新策略胜出”；没有多人证据，就不冒充全局结论。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6CEF5031-3CB7-4968-AEB4-2E69D64B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Victorica123 · Recommender System</a:t>
            </a:r>
          </a:p>
        </p:txBody>
      </p:sp>
    </p:spTree>
    <p:extLst>
      <p:ext uri="{BB962C8B-B14F-4D97-AF65-F5344CB8AC3E}">
        <p14:creationId xmlns:p14="http://schemas.microsoft.com/office/powerpoint/2010/main" val="1927068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B34DD76-8C4A-4F3E-AA39-3D27D5C9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个人有提升信号，但群体证据否决了全量上线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E51A81E7-B169-453C-8B60-F3655E5F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slide-8-accent">
            <a:extLst xmlns:a="http://schemas.openxmlformats.org/drawingml/2006/main">
              <a:ext uri="{FF2B5EF4-FFF2-40B4-BE49-F238E27FC236}">
                <a16:creationId xmlns:a16="http://schemas.microsoft.com/office/drawing/2014/main" id="{BA345D13-688F-4623-8B6A-CCC3EFE6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72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66675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7156fd59e148ef"/>
          </a:graphicData>
        </a:graphic>
      </p:graphicFrame>
      <p:sp>
        <p:nvSpPr>
          <p:cNvPr id="5" name="personal-signal">
            <a:extLst xmlns:a="http://schemas.openxmlformats.org/drawingml/2006/main">
              <a:ext uri="{FF2B5EF4-FFF2-40B4-BE49-F238E27FC236}">
                <a16:creationId xmlns:a16="http://schemas.microsoft.com/office/drawing/2014/main" id="{FF956B44-8156-4236-87AC-CBA9859A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430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+11.1%</a:t>
            </a:r>
          </a:p>
        </p:txBody>
      </p:sp>
      <p:sp>
        <p:nvSpPr>
          <p:cNvPr id="6" name="personal-label">
            <a:extLst xmlns:a="http://schemas.openxmlformats.org/drawingml/2006/main">
              <a:ext uri="{FF2B5EF4-FFF2-40B4-BE49-F238E27FC236}">
                <a16:creationId xmlns:a16="http://schemas.microsoft.com/office/drawing/2014/main" id="{55EC9DB5-8EAD-48A0-BC69-BB308C2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个人 20 批 IPS 方向</a:t>
            </a:r>
          </a:p>
        </p:txBody>
      </p:sp>
      <p:sp>
        <p:nvSpPr>
          <p:cNvPr id="7" name="external-negative">
            <a:extLst xmlns:a="http://schemas.openxmlformats.org/drawingml/2006/main">
              <a:ext uri="{FF2B5EF4-FFF2-40B4-BE49-F238E27FC236}">
                <a16:creationId xmlns:a16="http://schemas.microsoft.com/office/drawing/2014/main" id="{22912739-7CDD-41FE-A013-DB23F034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-0.332</a:t>
            </a:r>
          </a:p>
        </p:txBody>
      </p:sp>
      <p:sp>
        <p:nvSpPr>
          <p:cNvPr id="8" name="external-label">
            <a:extLst xmlns:a="http://schemas.openxmlformats.org/drawingml/2006/main">
              <a:ext uri="{FF2B5EF4-FFF2-40B4-BE49-F238E27FC236}">
                <a16:creationId xmlns:a16="http://schemas.microsoft.com/office/drawing/2014/main" id="{ABB16391-B271-4D3C-9898-AF4F653B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052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高多样性“感到个性化”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Holm p = 0.0144</a:t>
            </a:r>
          </a:p>
        </p:txBody>
      </p:sp>
      <p:sp>
        <p:nvSpPr>
          <p:cNvPr id="9" name="rollout-decision">
            <a:extLst xmlns:a="http://schemas.openxmlformats.org/drawingml/2006/main">
              <a:ext uri="{FF2B5EF4-FFF2-40B4-BE49-F238E27FC236}">
                <a16:creationId xmlns:a16="http://schemas.microsoft.com/office/drawing/2014/main" id="{A5639DC9-B98D-4FF2-86EC-DED9AFF3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3810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决策：保留基线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低权重多样性仅作个性化候选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D174090-CA2E-418C-807A-C5123DA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Victorica123 · Recommender System</a:t>
            </a:r>
          </a:p>
        </p:txBody>
      </p:sp>
    </p:spTree>
    <p:extLst>
      <p:ext uri="{BB962C8B-B14F-4D97-AF65-F5344CB8AC3E}">
        <p14:creationId xmlns:p14="http://schemas.microsoft.com/office/powerpoint/2010/main" val="8482808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A190A116-2895-4625-B00F-7CA0C752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WHY THIS PROJECT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70E0541-7BA2-42BC-882B-5C76983D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23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值得深挖的不是模型数量，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而是三种工程判断</a:t>
            </a:r>
          </a:p>
        </p:txBody>
      </p:sp>
      <p:sp>
        <p:nvSpPr>
          <p:cNvPr id="3" name="close-1-index">
            <a:extLst xmlns:a="http://schemas.openxmlformats.org/drawingml/2006/main">
              <a:ext uri="{FF2B5EF4-FFF2-40B4-BE49-F238E27FC236}">
                <a16:creationId xmlns:a16="http://schemas.microsoft.com/office/drawing/2014/main" id="{F8082008-4416-41B5-83D5-D6D8602F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close-1">
            <a:extLst xmlns:a="http://schemas.openxmlformats.org/drawingml/2006/main">
              <a:ext uri="{FF2B5EF4-FFF2-40B4-BE49-F238E27FC236}">
                <a16:creationId xmlns:a16="http://schemas.microsoft.com/office/drawing/2014/main" id="{F4F8B9EA-CDA0-427E-9BC1-CD4008A4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指标异常时先审计协议与采样</a:t>
            </a:r>
          </a:p>
        </p:txBody>
      </p:sp>
      <p:sp>
        <p:nvSpPr>
          <p:cNvPr id="5" name="close-2-index">
            <a:extLst xmlns:a="http://schemas.openxmlformats.org/drawingml/2006/main">
              <a:ext uri="{FF2B5EF4-FFF2-40B4-BE49-F238E27FC236}">
                <a16:creationId xmlns:a16="http://schemas.microsoft.com/office/drawing/2014/main" id="{92B1F390-2013-4616-B806-0CCB2289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close-2">
            <a:extLst xmlns:a="http://schemas.openxmlformats.org/drawingml/2006/main">
              <a:ext uri="{FF2B5EF4-FFF2-40B4-BE49-F238E27FC236}">
                <a16:creationId xmlns:a16="http://schemas.microsoft.com/office/drawing/2014/main" id="{3F3619AB-B561-400D-B87E-FEB06481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扩容时同时看吞吐、p99 与成本</a:t>
            </a:r>
          </a:p>
        </p:txBody>
      </p:sp>
      <p:sp>
        <p:nvSpPr>
          <p:cNvPr id="7" name="close-3-index">
            <a:extLst xmlns:a="http://schemas.openxmlformats.org/drawingml/2006/main">
              <a:ext uri="{FF2B5EF4-FFF2-40B4-BE49-F238E27FC236}">
                <a16:creationId xmlns:a16="http://schemas.microsoft.com/office/drawing/2014/main" id="{E3F0CEBD-95CF-40B2-A55C-EEDE77A7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close-3">
            <a:extLst xmlns:a="http://schemas.openxmlformats.org/drawingml/2006/main">
              <a:ext uri="{FF2B5EF4-FFF2-40B4-BE49-F238E27FC236}">
                <a16:creationId xmlns:a16="http://schemas.microsoft.com/office/drawing/2014/main" id="{EBED1BD1-816E-411B-9429-0BB2A2C0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证据不足时敢于不全量上线</a:t>
            </a:r>
          </a:p>
        </p:txBody>
      </p:sp>
      <p:sp>
        <p:nvSpPr>
          <p:cNvPr id="9" name="close-callout-box">
            <a:extLst xmlns:a="http://schemas.openxmlformats.org/drawingml/2006/main">
              <a:ext uri="{FF2B5EF4-FFF2-40B4-BE49-F238E27FC236}">
                <a16:creationId xmlns:a16="http://schemas.microsoft.com/office/drawing/2014/main" id="{7DAF670D-E247-4A36-AABD-BA65CA26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4095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" name="close-callout">
            <a:extLst xmlns:a="http://schemas.openxmlformats.org/drawingml/2006/main">
              <a:ext uri="{FF2B5EF4-FFF2-40B4-BE49-F238E27FC236}">
                <a16:creationId xmlns:a16="http://schemas.microsoft.com/office/drawing/2014/main" id="{F52DF301-FC96-4725-AACF-CFBE99F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62350"/>
            <a:ext cx="3238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可运行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可被质疑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97C780F-7BD3-4907-9B56-305DC987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项目材料：README · REPORT · Interview Playbook · Evidence Index</a:t>
            </a:r>
          </a:p>
        </p:txBody>
      </p:sp>
    </p:spTree>
    <p:extLst>
      <p:ext uri="{BB962C8B-B14F-4D97-AF65-F5344CB8AC3E}">
        <p14:creationId xmlns:p14="http://schemas.microsoft.com/office/powerpoint/2010/main" val="1506535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2026-07-27T05:41:13.2700000Z</dcterms:created>
  <dcterms:modified xsi:type="dcterms:W3CDTF">2026-07-27T05:41:13.2700000Z</dcterms:modified>
</coreProperties>
</file>